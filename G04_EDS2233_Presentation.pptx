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Montserrat Bold" pitchFamily="2" charset="77"/>
      <p:regular r:id="rId17"/>
      <p:bold r:id="rId18"/>
    </p:embeddedFont>
    <p:embeddedFont>
      <p:font typeface="Source Sans 3" panose="020B0303030403020204" pitchFamily="3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91" d="100"/>
          <a:sy n="91" d="100"/>
        </p:scale>
        <p:origin x="192" y="9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8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82524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70013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579242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67008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DED"/>
          </a:solidFill>
          <a:ln/>
        </p:spPr>
        <p:txBody>
          <a:bodyPr/>
          <a:lstStyle/>
          <a:p>
            <a:endParaRPr lang="en-LK"/>
          </a:p>
        </p:txBody>
      </p:sp>
      <p:sp>
        <p:nvSpPr>
          <p:cNvPr id="3" name="Shape 1"/>
          <p:cNvSpPr/>
          <p:nvPr/>
        </p:nvSpPr>
        <p:spPr>
          <a:xfrm>
            <a:off x="0" y="0"/>
            <a:ext cx="12191695" cy="6858000"/>
          </a:xfrm>
          <a:prstGeom prst="rect">
            <a:avLst/>
          </a:prstGeom>
          <a:solidFill>
            <a:srgbClr val="FFFFFF"/>
          </a:solidFill>
          <a:ln/>
        </p:spPr>
        <p:txBody>
          <a:bodyPr/>
          <a:lstStyle/>
          <a:p>
            <a:endParaRPr lang="en-LK"/>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1020"/>
            <a:ext cx="4571886" cy="6858000"/>
          </a:xfrm>
          <a:prstGeom prst="rect">
            <a:avLst/>
          </a:prstGeom>
        </p:spPr>
      </p:pic>
      <p:sp>
        <p:nvSpPr>
          <p:cNvPr id="3" name="Text 0"/>
          <p:cNvSpPr/>
          <p:nvPr/>
        </p:nvSpPr>
        <p:spPr>
          <a:xfrm>
            <a:off x="5291700" y="2243931"/>
            <a:ext cx="6180181" cy="1753195"/>
          </a:xfrm>
          <a:prstGeom prst="rect">
            <a:avLst/>
          </a:prstGeom>
          <a:noFill/>
          <a:ln/>
        </p:spPr>
        <p:txBody>
          <a:bodyPr wrap="square" lIns="0" tIns="0" rIns="0" bIns="0" rtlCol="0" anchor="t">
            <a:normAutofit/>
          </a:bodyPr>
          <a:lstStyle/>
          <a:p>
            <a:pPr marL="0" indent="0" algn="l">
              <a:lnSpc>
                <a:spcPct val="104000"/>
              </a:lnSpc>
              <a:buNone/>
            </a:pPr>
            <a:r>
              <a:rPr lang="en-US" sz="3650" b="1">
                <a:solidFill>
                  <a:srgbClr val="000000"/>
                </a:solidFill>
                <a:latin typeface="Montserrat Bold" pitchFamily="34" charset="0"/>
                <a:ea typeface="Montserrat Bold" pitchFamily="34" charset="-122"/>
                <a:cs typeface="Montserrat Bold" pitchFamily="34" charset="-120"/>
              </a:rPr>
              <a:t>Airline Operational Performance &amp; Passenger Satisfaction</a:t>
            </a:r>
            <a:endParaRPr lang="en-US" sz="3650" dirty="0"/>
          </a:p>
        </p:txBody>
      </p:sp>
      <p:sp>
        <p:nvSpPr>
          <p:cNvPr id="4" name="Text 1"/>
          <p:cNvSpPr/>
          <p:nvPr/>
        </p:nvSpPr>
        <p:spPr>
          <a:xfrm>
            <a:off x="5291700" y="4305598"/>
            <a:ext cx="6789766" cy="308471"/>
          </a:xfrm>
          <a:prstGeom prst="rect">
            <a:avLst/>
          </a:prstGeom>
          <a:noFill/>
          <a:ln/>
        </p:spPr>
        <p:txBody>
          <a:bodyPr wrap="none" lIns="0" tIns="0" rIns="0" bIns="0" rtlCol="0" anchor="t"/>
          <a:lstStyle/>
          <a:p>
            <a:pPr marL="0" indent="0" algn="l">
              <a:lnSpc>
                <a:spcPct val="125000"/>
              </a:lnSpc>
              <a:buNone/>
            </a:pPr>
            <a:r>
              <a:rPr lang="en-US" sz="1600">
                <a:solidFill>
                  <a:srgbClr val="3D3838"/>
                </a:solidFill>
                <a:latin typeface="Source Sans 3" pitchFamily="34" charset="0"/>
                <a:ea typeface="Source Sans 3" pitchFamily="34" charset="-122"/>
                <a:cs typeface="Source Sans 3" pitchFamily="34" charset="-120"/>
              </a:rPr>
              <a:t>Group 04, EDS2233</a:t>
            </a:r>
            <a:endParaRPr lang="en-US" sz="1600" dirty="0"/>
          </a:p>
        </p:txBody>
      </p:sp>
      <p:pic>
        <p:nvPicPr>
          <p:cNvPr id="10" name="Picture 9">
            <a:extLst>
              <a:ext uri="{FF2B5EF4-FFF2-40B4-BE49-F238E27FC236}">
                <a16:creationId xmlns:a16="http://schemas.microsoft.com/office/drawing/2014/main" id="{52DF14E5-D57F-0835-FDC4-418B1AAF3904}"/>
              </a:ext>
            </a:extLst>
          </p:cNvPr>
          <p:cNvPicPr>
            <a:picLocks noChangeAspect="1"/>
          </p:cNvPicPr>
          <p:nvPr/>
        </p:nvPicPr>
        <p:blipFill>
          <a:blip r:embed="rId4"/>
          <a:stretch>
            <a:fillRect/>
          </a:stretch>
        </p:blipFill>
        <p:spPr>
          <a:xfrm>
            <a:off x="-73571" y="-21020"/>
            <a:ext cx="4866288" cy="6900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2288480"/>
            <a:ext cx="6180181"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Business Question</a:t>
            </a:r>
            <a:endParaRPr lang="en-US" sz="3650" dirty="0"/>
          </a:p>
        </p:txBody>
      </p:sp>
      <p:sp>
        <p:nvSpPr>
          <p:cNvPr id="4" name="Shape 1"/>
          <p:cNvSpPr/>
          <p:nvPr/>
        </p:nvSpPr>
        <p:spPr>
          <a:xfrm>
            <a:off x="5291700" y="3181350"/>
            <a:ext cx="25399" cy="1388070"/>
          </a:xfrm>
          <a:prstGeom prst="roundRect">
            <a:avLst>
              <a:gd name="adj" fmla="val 60001"/>
            </a:avLst>
          </a:prstGeom>
          <a:solidFill>
            <a:srgbClr val="2D2E34"/>
          </a:solidFill>
          <a:ln/>
        </p:spPr>
        <p:txBody>
          <a:bodyPr/>
          <a:lstStyle/>
          <a:p>
            <a:endParaRPr lang="en-LK"/>
          </a:p>
        </p:txBody>
      </p:sp>
      <p:sp>
        <p:nvSpPr>
          <p:cNvPr id="5" name="Text 2"/>
          <p:cNvSpPr/>
          <p:nvPr/>
        </p:nvSpPr>
        <p:spPr>
          <a:xfrm>
            <a:off x="5600163" y="3412728"/>
            <a:ext cx="5871718" cy="925413"/>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Does airline operational performance (delays, cancellations) actually drive passenger satisfaction , and where should airlines focus improvement?</a:t>
            </a:r>
            <a:endParaRPr lang="en-US" sz="1600" dirty="0"/>
          </a:p>
        </p:txBody>
      </p:sp>
      <p:pic>
        <p:nvPicPr>
          <p:cNvPr id="9" name="Picture 8">
            <a:extLst>
              <a:ext uri="{FF2B5EF4-FFF2-40B4-BE49-F238E27FC236}">
                <a16:creationId xmlns:a16="http://schemas.microsoft.com/office/drawing/2014/main" id="{9EC9005A-9A76-BEFE-D0F8-4002D0F8E913}"/>
              </a:ext>
            </a:extLst>
          </p:cNvPr>
          <p:cNvPicPr>
            <a:picLocks noChangeAspect="1"/>
          </p:cNvPicPr>
          <p:nvPr/>
        </p:nvPicPr>
        <p:blipFill>
          <a:blip r:embed="rId4"/>
          <a:stretch>
            <a:fillRect/>
          </a:stretch>
        </p:blipFill>
        <p:spPr>
          <a:xfrm>
            <a:off x="-53687" y="-16272"/>
            <a:ext cx="5062323" cy="68742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814" y="2093516"/>
            <a:ext cx="10752067"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Data Sources</a:t>
            </a:r>
            <a:endParaRPr lang="en-US" sz="3650" dirty="0"/>
          </a:p>
        </p:txBody>
      </p:sp>
      <p:sp>
        <p:nvSpPr>
          <p:cNvPr id="4" name="Shape 2"/>
          <p:cNvSpPr/>
          <p:nvPr/>
        </p:nvSpPr>
        <p:spPr>
          <a:xfrm>
            <a:off x="719814" y="3629124"/>
            <a:ext cx="3446872" cy="1135360"/>
          </a:xfrm>
          <a:prstGeom prst="roundRect">
            <a:avLst>
              <a:gd name="adj" fmla="val 2717"/>
            </a:avLst>
          </a:prstGeom>
          <a:solidFill>
            <a:srgbClr val="F2EEEE"/>
          </a:solidFill>
          <a:ln/>
        </p:spPr>
        <p:txBody>
          <a:bodyPr/>
          <a:lstStyle/>
          <a:p>
            <a:endParaRPr lang="en-LK"/>
          </a:p>
        </p:txBody>
      </p:sp>
      <p:sp>
        <p:nvSpPr>
          <p:cNvPr id="5" name="Text 3"/>
          <p:cNvSpPr/>
          <p:nvPr/>
        </p:nvSpPr>
        <p:spPr>
          <a:xfrm>
            <a:off x="925489" y="3834805"/>
            <a:ext cx="3035522"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flights.csv</a:t>
            </a:r>
            <a:endParaRPr lang="en-US" sz="1800" dirty="0"/>
          </a:p>
        </p:txBody>
      </p:sp>
      <p:sp>
        <p:nvSpPr>
          <p:cNvPr id="6" name="Text 4"/>
          <p:cNvSpPr/>
          <p:nvPr/>
        </p:nvSpPr>
        <p:spPr>
          <a:xfrm>
            <a:off x="925489" y="4250333"/>
            <a:ext cx="3035522"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1,405 flights, 2023</a:t>
            </a:r>
            <a:endParaRPr lang="en-US" sz="1600" dirty="0"/>
          </a:p>
        </p:txBody>
      </p:sp>
      <p:sp>
        <p:nvSpPr>
          <p:cNvPr id="7" name="Shape 5"/>
          <p:cNvSpPr/>
          <p:nvPr/>
        </p:nvSpPr>
        <p:spPr>
          <a:xfrm>
            <a:off x="4372362" y="3629124"/>
            <a:ext cx="3446872" cy="1135360"/>
          </a:xfrm>
          <a:prstGeom prst="roundRect">
            <a:avLst>
              <a:gd name="adj" fmla="val 2717"/>
            </a:avLst>
          </a:prstGeom>
          <a:solidFill>
            <a:srgbClr val="F2EEEE"/>
          </a:solidFill>
          <a:ln/>
        </p:spPr>
        <p:txBody>
          <a:bodyPr/>
          <a:lstStyle/>
          <a:p>
            <a:endParaRPr lang="en-LK"/>
          </a:p>
        </p:txBody>
      </p:sp>
      <p:sp>
        <p:nvSpPr>
          <p:cNvPr id="8" name="Text 6"/>
          <p:cNvSpPr/>
          <p:nvPr/>
        </p:nvSpPr>
        <p:spPr>
          <a:xfrm>
            <a:off x="4578037" y="3834805"/>
            <a:ext cx="3035522"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airlines.csv</a:t>
            </a:r>
            <a:endParaRPr lang="en-US" sz="1800" dirty="0"/>
          </a:p>
        </p:txBody>
      </p:sp>
      <p:sp>
        <p:nvSpPr>
          <p:cNvPr id="9" name="Text 7"/>
          <p:cNvSpPr/>
          <p:nvPr/>
        </p:nvSpPr>
        <p:spPr>
          <a:xfrm>
            <a:off x="4578037" y="4250333"/>
            <a:ext cx="3035522"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12 carriers</a:t>
            </a:r>
            <a:endParaRPr lang="en-US" sz="1600" dirty="0"/>
          </a:p>
        </p:txBody>
      </p:sp>
      <p:sp>
        <p:nvSpPr>
          <p:cNvPr id="10" name="Shape 8"/>
          <p:cNvSpPr/>
          <p:nvPr/>
        </p:nvSpPr>
        <p:spPr>
          <a:xfrm>
            <a:off x="8024909" y="3629124"/>
            <a:ext cx="3446872" cy="1135360"/>
          </a:xfrm>
          <a:prstGeom prst="roundRect">
            <a:avLst>
              <a:gd name="adj" fmla="val 2717"/>
            </a:avLst>
          </a:prstGeom>
          <a:solidFill>
            <a:srgbClr val="F2EEEE"/>
          </a:solidFill>
          <a:ln/>
        </p:spPr>
        <p:txBody>
          <a:bodyPr/>
          <a:lstStyle/>
          <a:p>
            <a:endParaRPr lang="en-LK"/>
          </a:p>
        </p:txBody>
      </p:sp>
      <p:sp>
        <p:nvSpPr>
          <p:cNvPr id="11" name="Text 9"/>
          <p:cNvSpPr/>
          <p:nvPr/>
        </p:nvSpPr>
        <p:spPr>
          <a:xfrm>
            <a:off x="8230585" y="3834805"/>
            <a:ext cx="3035522"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satisfaction_survey.csv</a:t>
            </a:r>
            <a:endParaRPr lang="en-US" sz="1800" dirty="0"/>
          </a:p>
        </p:txBody>
      </p:sp>
      <p:sp>
        <p:nvSpPr>
          <p:cNvPr id="12" name="Text 10"/>
          <p:cNvSpPr/>
          <p:nvPr/>
        </p:nvSpPr>
        <p:spPr>
          <a:xfrm>
            <a:off x="8230585" y="4250333"/>
            <a:ext cx="3035522"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715 responses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l="5228" t="24594" r="6624" b="18126"/>
          <a:stretch>
            <a:fillRect/>
          </a:stretch>
        </p:blipFill>
        <p:spPr>
          <a:xfrm>
            <a:off x="793531" y="1994668"/>
            <a:ext cx="10604938" cy="3876380"/>
          </a:xfrm>
          <a:prstGeom prst="rect">
            <a:avLst/>
          </a:prstGeom>
        </p:spPr>
      </p:pic>
      <p:sp>
        <p:nvSpPr>
          <p:cNvPr id="2" name="Text 0"/>
          <p:cNvSpPr/>
          <p:nvPr/>
        </p:nvSpPr>
        <p:spPr>
          <a:xfrm>
            <a:off x="1119209" y="1298027"/>
            <a:ext cx="2832681" cy="696641"/>
          </a:xfrm>
          <a:prstGeom prst="rect">
            <a:avLst/>
          </a:prstGeom>
          <a:noFill/>
          <a:ln/>
        </p:spPr>
        <p:txBody>
          <a:bodyPr wrap="none" lIns="0" tIns="0" rIns="0" bIns="0" rtlCol="0" anchor="t"/>
          <a:lstStyle/>
          <a:p>
            <a:pPr marL="0" indent="0" algn="l">
              <a:lnSpc>
                <a:spcPct val="104000"/>
              </a:lnSpc>
              <a:buNone/>
            </a:pPr>
            <a:r>
              <a:rPr lang="en-US" sz="3200" b="1">
                <a:solidFill>
                  <a:srgbClr val="000000"/>
                </a:solidFill>
                <a:latin typeface="Montserrat Bold" pitchFamily="34" charset="0"/>
                <a:ea typeface="Montserrat Bold" pitchFamily="34" charset="-122"/>
                <a:cs typeface="Montserrat Bold" pitchFamily="34" charset="-120"/>
              </a:rPr>
              <a:t>Data Model</a:t>
            </a:r>
            <a:endParaRPr lang="en-US" sz="3200" dirty="0"/>
          </a:p>
        </p:txBody>
      </p:sp>
      <p:sp>
        <p:nvSpPr>
          <p:cNvPr id="6" name="TextBox 5">
            <a:extLst>
              <a:ext uri="{FF2B5EF4-FFF2-40B4-BE49-F238E27FC236}">
                <a16:creationId xmlns:a16="http://schemas.microsoft.com/office/drawing/2014/main" id="{0AEDFA40-DE7E-8DDF-4186-A2A5F5937EC2}"/>
              </a:ext>
            </a:extLst>
          </p:cNvPr>
          <p:cNvSpPr txBox="1"/>
          <p:nvPr/>
        </p:nvSpPr>
        <p:spPr>
          <a:xfrm>
            <a:off x="4992900" y="5363216"/>
            <a:ext cx="6781759" cy="707886"/>
          </a:xfrm>
          <a:prstGeom prst="rect">
            <a:avLst/>
          </a:prstGeom>
          <a:noFill/>
        </p:spPr>
        <p:txBody>
          <a:bodyPr wrap="square">
            <a:spAutoFit/>
          </a:bodyPr>
          <a:lstStyle/>
          <a:p>
            <a:r>
              <a:rPr lang="en-GB" sz="2000" i="1" dirty="0">
                <a:solidFill>
                  <a:schemeClr val="tx1">
                    <a:lumMod val="85000"/>
                    <a:lumOff val="15000"/>
                  </a:schemeClr>
                </a:solidFill>
                <a:latin typeface="Times New Roman" panose="02020603050405020304" pitchFamily="18" charset="0"/>
                <a:cs typeface="Times New Roman" panose="02020603050405020304" pitchFamily="18" charset="0"/>
              </a:rPr>
              <a:t>The dataset contains unmatched records. Tableau relationships preserve these records without removing valid flight data. </a:t>
            </a:r>
            <a:r>
              <a:rPr lang="en-GB" sz="2000" b="0" i="1" u="none" strike="noStrike" dirty="0">
                <a:solidFill>
                  <a:srgbClr val="FFFFFF"/>
                </a:solidFill>
                <a:effectLst/>
                <a:latin typeface="-webkit-standard"/>
              </a:rPr>
              <a:t>data</a:t>
            </a:r>
            <a:r>
              <a:rPr lang="en-GB" b="0" i="0" u="none" strike="noStrike" dirty="0">
                <a:solidFill>
                  <a:srgbClr val="FFFFFF"/>
                </a:solidFill>
                <a:effectLst/>
                <a:latin typeface="-webkit-standard"/>
              </a:rPr>
              <a:t>."</a:t>
            </a:r>
            <a:endParaRPr lang="en-LK"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9814" y="600869"/>
            <a:ext cx="10752067"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Calculated Fields</a:t>
            </a:r>
            <a:endParaRPr lang="en-US" sz="3650" dirty="0"/>
          </a:p>
        </p:txBody>
      </p:sp>
      <p:sp>
        <p:nvSpPr>
          <p:cNvPr id="3" name="Text 1"/>
          <p:cNvSpPr/>
          <p:nvPr/>
        </p:nvSpPr>
        <p:spPr>
          <a:xfrm>
            <a:off x="719814" y="1596628"/>
            <a:ext cx="10752067" cy="616942"/>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Cancellation Rate, Delay Category (0-15/16-30/31-60/60+), Delay Status (Cancelled/On Time/Minor/Moderate/Severe), Survey Coverage — built to bucket continuous delay data into readable categories for the charts.</a:t>
            </a:r>
            <a:endParaRPr lang="en-US" sz="16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814" y="2444948"/>
            <a:ext cx="5273146" cy="1803202"/>
          </a:xfrm>
          <a:prstGeom prst="rect">
            <a:avLst/>
          </a:prstGeom>
        </p:spPr>
      </p:pic>
      <p:sp>
        <p:nvSpPr>
          <p:cNvPr id="5" name="Text 2"/>
          <p:cNvSpPr/>
          <p:nvPr/>
        </p:nvSpPr>
        <p:spPr>
          <a:xfrm>
            <a:off x="3202106" y="2586038"/>
            <a:ext cx="308463" cy="385663"/>
          </a:xfrm>
          <a:prstGeom prst="rect">
            <a:avLst/>
          </a:prstGeom>
          <a:noFill/>
          <a:ln/>
        </p:spPr>
        <p:txBody>
          <a:bodyPr wrap="none" lIns="0" tIns="0" rIns="0" bIns="0" rtlCol="0" anchor="ctr"/>
          <a:lstStyle/>
          <a:p>
            <a:pPr marL="0" indent="0" algn="ctr">
              <a:lnSpc>
                <a:spcPct val="100000"/>
              </a:lnSpc>
              <a:buNone/>
            </a:pPr>
            <a:r>
              <a:rPr lang="en-US" sz="2400" b="1" dirty="0">
                <a:solidFill>
                  <a:srgbClr val="3D3838"/>
                </a:solidFill>
                <a:latin typeface="Montserrat Bold" pitchFamily="34" charset="0"/>
                <a:ea typeface="Montserrat Bold" pitchFamily="34" charset="-122"/>
                <a:cs typeface="Montserrat Bold" pitchFamily="34" charset="-120"/>
              </a:rPr>
              <a:t>1</a:t>
            </a:r>
            <a:endParaRPr lang="en-US" sz="2400" dirty="0"/>
          </a:p>
        </p:txBody>
      </p:sp>
      <p:sp>
        <p:nvSpPr>
          <p:cNvPr id="6" name="Text 3"/>
          <p:cNvSpPr/>
          <p:nvPr/>
        </p:nvSpPr>
        <p:spPr>
          <a:xfrm>
            <a:off x="950889" y="3293070"/>
            <a:ext cx="4810997"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Cancellation Rate</a:t>
            </a:r>
            <a:endParaRPr lang="en-US" sz="18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8636" y="2444948"/>
            <a:ext cx="5273245" cy="1803202"/>
          </a:xfrm>
          <a:prstGeom prst="rect">
            <a:avLst/>
          </a:prstGeom>
        </p:spPr>
      </p:pic>
      <p:sp>
        <p:nvSpPr>
          <p:cNvPr id="8" name="Text 4"/>
          <p:cNvSpPr/>
          <p:nvPr/>
        </p:nvSpPr>
        <p:spPr>
          <a:xfrm>
            <a:off x="8681027" y="2586038"/>
            <a:ext cx="308463" cy="385663"/>
          </a:xfrm>
          <a:prstGeom prst="rect">
            <a:avLst/>
          </a:prstGeom>
          <a:noFill/>
          <a:ln/>
        </p:spPr>
        <p:txBody>
          <a:bodyPr wrap="none" lIns="0" tIns="0" rIns="0" bIns="0" rtlCol="0" anchor="ctr"/>
          <a:lstStyle/>
          <a:p>
            <a:pPr marL="0" indent="0" algn="ctr">
              <a:lnSpc>
                <a:spcPct val="100000"/>
              </a:lnSpc>
              <a:buNone/>
            </a:pPr>
            <a:r>
              <a:rPr lang="en-US" sz="2400" b="1" dirty="0">
                <a:solidFill>
                  <a:srgbClr val="3D3838"/>
                </a:solidFill>
                <a:latin typeface="Montserrat Bold" pitchFamily="34" charset="0"/>
                <a:ea typeface="Montserrat Bold" pitchFamily="34" charset="-122"/>
                <a:cs typeface="Montserrat Bold" pitchFamily="34" charset="-120"/>
              </a:rPr>
              <a:t>2</a:t>
            </a:r>
            <a:endParaRPr lang="en-US" sz="2400" dirty="0"/>
          </a:p>
        </p:txBody>
      </p:sp>
      <p:sp>
        <p:nvSpPr>
          <p:cNvPr id="9" name="Text 5"/>
          <p:cNvSpPr/>
          <p:nvPr/>
        </p:nvSpPr>
        <p:spPr>
          <a:xfrm>
            <a:off x="6429710" y="3293070"/>
            <a:ext cx="4811096"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Delay Category</a:t>
            </a:r>
            <a:endParaRPr lang="en-US" sz="1800" dirty="0"/>
          </a:p>
        </p:txBody>
      </p:sp>
      <p:sp>
        <p:nvSpPr>
          <p:cNvPr id="10" name="Text 6"/>
          <p:cNvSpPr/>
          <p:nvPr/>
        </p:nvSpPr>
        <p:spPr>
          <a:xfrm>
            <a:off x="6429710" y="3708598"/>
            <a:ext cx="4811096"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0-15 / 16-30 / 31-60 / 60+</a:t>
            </a:r>
            <a:endParaRPr lang="en-US" sz="16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814" y="4453830"/>
            <a:ext cx="5273146" cy="1803202"/>
          </a:xfrm>
          <a:prstGeom prst="rect">
            <a:avLst/>
          </a:prstGeom>
        </p:spPr>
      </p:pic>
      <p:sp>
        <p:nvSpPr>
          <p:cNvPr id="12" name="Text 7"/>
          <p:cNvSpPr/>
          <p:nvPr/>
        </p:nvSpPr>
        <p:spPr>
          <a:xfrm>
            <a:off x="3202106" y="4594920"/>
            <a:ext cx="308463" cy="385663"/>
          </a:xfrm>
          <a:prstGeom prst="rect">
            <a:avLst/>
          </a:prstGeom>
          <a:noFill/>
          <a:ln/>
        </p:spPr>
        <p:txBody>
          <a:bodyPr wrap="none" lIns="0" tIns="0" rIns="0" bIns="0" rtlCol="0" anchor="ctr"/>
          <a:lstStyle/>
          <a:p>
            <a:pPr marL="0" indent="0" algn="ctr">
              <a:lnSpc>
                <a:spcPct val="100000"/>
              </a:lnSpc>
              <a:buNone/>
            </a:pPr>
            <a:r>
              <a:rPr lang="en-US" sz="2400" b="1" dirty="0">
                <a:solidFill>
                  <a:srgbClr val="3D3838"/>
                </a:solidFill>
                <a:latin typeface="Montserrat Bold" pitchFamily="34" charset="0"/>
                <a:ea typeface="Montserrat Bold" pitchFamily="34" charset="-122"/>
                <a:cs typeface="Montserrat Bold" pitchFamily="34" charset="-120"/>
              </a:rPr>
              <a:t>3</a:t>
            </a:r>
            <a:endParaRPr lang="en-US" sz="2400" dirty="0"/>
          </a:p>
        </p:txBody>
      </p:sp>
      <p:sp>
        <p:nvSpPr>
          <p:cNvPr id="13" name="Text 8"/>
          <p:cNvSpPr/>
          <p:nvPr/>
        </p:nvSpPr>
        <p:spPr>
          <a:xfrm>
            <a:off x="950889" y="5301952"/>
            <a:ext cx="4810997"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Delay Status</a:t>
            </a:r>
            <a:endParaRPr lang="en-US" sz="1800" dirty="0"/>
          </a:p>
        </p:txBody>
      </p:sp>
      <p:sp>
        <p:nvSpPr>
          <p:cNvPr id="14" name="Text 9"/>
          <p:cNvSpPr/>
          <p:nvPr/>
        </p:nvSpPr>
        <p:spPr>
          <a:xfrm>
            <a:off x="950889" y="5717480"/>
            <a:ext cx="4810997" cy="308471"/>
          </a:xfrm>
          <a:prstGeom prst="rect">
            <a:avLst/>
          </a:prstGeom>
          <a:noFill/>
          <a:ln/>
        </p:spPr>
        <p:txBody>
          <a:bodyPr wrap="none" lIns="0" tIns="0" rIns="0" bIns="0" rtlCol="0" anchor="t"/>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Cancelled / On Time / Minor / Moderate / Severe</a:t>
            </a:r>
            <a:endParaRPr lang="en-US" sz="16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8636" y="4453830"/>
            <a:ext cx="5273245" cy="1803202"/>
          </a:xfrm>
          <a:prstGeom prst="rect">
            <a:avLst/>
          </a:prstGeom>
        </p:spPr>
      </p:pic>
      <p:sp>
        <p:nvSpPr>
          <p:cNvPr id="16" name="Text 10"/>
          <p:cNvSpPr/>
          <p:nvPr/>
        </p:nvSpPr>
        <p:spPr>
          <a:xfrm>
            <a:off x="8681027" y="4594920"/>
            <a:ext cx="308463" cy="385663"/>
          </a:xfrm>
          <a:prstGeom prst="rect">
            <a:avLst/>
          </a:prstGeom>
          <a:noFill/>
          <a:ln/>
        </p:spPr>
        <p:txBody>
          <a:bodyPr wrap="none" lIns="0" tIns="0" rIns="0" bIns="0" rtlCol="0" anchor="ctr"/>
          <a:lstStyle/>
          <a:p>
            <a:pPr marL="0" indent="0" algn="ctr">
              <a:lnSpc>
                <a:spcPct val="100000"/>
              </a:lnSpc>
              <a:buNone/>
            </a:pPr>
            <a:r>
              <a:rPr lang="en-US" sz="2400" b="1" dirty="0">
                <a:solidFill>
                  <a:srgbClr val="3D3838"/>
                </a:solidFill>
                <a:latin typeface="Montserrat Bold" pitchFamily="34" charset="0"/>
                <a:ea typeface="Montserrat Bold" pitchFamily="34" charset="-122"/>
                <a:cs typeface="Montserrat Bold" pitchFamily="34" charset="-120"/>
              </a:rPr>
              <a:t>4</a:t>
            </a:r>
            <a:endParaRPr lang="en-US" sz="2400" dirty="0"/>
          </a:p>
        </p:txBody>
      </p:sp>
      <p:sp>
        <p:nvSpPr>
          <p:cNvPr id="17" name="Text 11"/>
          <p:cNvSpPr/>
          <p:nvPr/>
        </p:nvSpPr>
        <p:spPr>
          <a:xfrm>
            <a:off x="6429710" y="5301952"/>
            <a:ext cx="4811096" cy="292199"/>
          </a:xfrm>
          <a:prstGeom prst="rect">
            <a:avLst/>
          </a:prstGeom>
          <a:noFill/>
          <a:ln/>
        </p:spPr>
        <p:txBody>
          <a:bodyPr wrap="none" lIns="0" tIns="0" rIns="0" bIns="0" rtlCol="0" anchor="t"/>
          <a:lstStyle/>
          <a:p>
            <a:pPr marL="0" indent="0" algn="l">
              <a:lnSpc>
                <a:spcPct val="104000"/>
              </a:lnSpc>
              <a:buNone/>
            </a:pPr>
            <a:r>
              <a:rPr lang="en-US" sz="1800" b="1" dirty="0">
                <a:solidFill>
                  <a:srgbClr val="3D3838"/>
                </a:solidFill>
                <a:latin typeface="Montserrat Bold" pitchFamily="34" charset="0"/>
                <a:ea typeface="Montserrat Bold" pitchFamily="34" charset="-122"/>
                <a:cs typeface="Montserrat Bold" pitchFamily="34" charset="-120"/>
              </a:rPr>
              <a:t>Survey Coverage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19814" y="1980009"/>
            <a:ext cx="6180181"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Average Delay by Airline</a:t>
            </a:r>
            <a:endParaRPr lang="en-US" sz="3650" dirty="0"/>
          </a:p>
        </p:txBody>
      </p:sp>
      <p:sp>
        <p:nvSpPr>
          <p:cNvPr id="4" name="Shape 1"/>
          <p:cNvSpPr/>
          <p:nvPr/>
        </p:nvSpPr>
        <p:spPr>
          <a:xfrm>
            <a:off x="719814" y="2872879"/>
            <a:ext cx="25399" cy="2005112"/>
          </a:xfrm>
          <a:prstGeom prst="roundRect">
            <a:avLst>
              <a:gd name="adj" fmla="val 60001"/>
            </a:avLst>
          </a:prstGeom>
          <a:solidFill>
            <a:srgbClr val="2D2E34"/>
          </a:solidFill>
          <a:ln/>
        </p:spPr>
        <p:txBody>
          <a:bodyPr/>
          <a:lstStyle/>
          <a:p>
            <a:endParaRPr lang="en-LK"/>
          </a:p>
        </p:txBody>
      </p:sp>
      <p:sp>
        <p:nvSpPr>
          <p:cNvPr id="5" name="Text 2"/>
          <p:cNvSpPr/>
          <p:nvPr/>
        </p:nvSpPr>
        <p:spPr>
          <a:xfrm>
            <a:off x="1028277" y="3104257"/>
            <a:ext cx="5871718" cy="1542355"/>
          </a:xfrm>
          <a:prstGeom prst="rect">
            <a:avLst/>
          </a:prstGeom>
          <a:noFill/>
          <a:ln/>
        </p:spPr>
        <p:txBody>
          <a:bodyPr wrap="square" lIns="0" tIns="0" rIns="0" bIns="0" rtlCol="0" anchor="t">
            <a:normAutofit/>
          </a:bodyPr>
          <a:lstStyle/>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"This visualization compares the average departure delay across airlines to identify operational performance differences. Airlines with consistently higher average delays may experience scheduling or resource management challenges, which can negatively affect passenger satisfaction."</a:t>
            </a:r>
            <a:endParaRPr lang="en-US" sz="1600" dirty="0"/>
          </a:p>
        </p:txBody>
      </p:sp>
      <p:pic>
        <p:nvPicPr>
          <p:cNvPr id="7" name="Picture 6">
            <a:extLst>
              <a:ext uri="{FF2B5EF4-FFF2-40B4-BE49-F238E27FC236}">
                <a16:creationId xmlns:a16="http://schemas.microsoft.com/office/drawing/2014/main" id="{84E3D032-877C-8058-60AD-B3A7395C6F61}"/>
              </a:ext>
            </a:extLst>
          </p:cNvPr>
          <p:cNvPicPr>
            <a:picLocks noChangeAspect="1"/>
          </p:cNvPicPr>
          <p:nvPr/>
        </p:nvPicPr>
        <p:blipFill>
          <a:blip r:embed="rId3"/>
          <a:srcRect l="25878" t="17905" r="11793" b="5368"/>
          <a:stretch>
            <a:fillRect/>
          </a:stretch>
        </p:blipFill>
        <p:spPr>
          <a:xfrm>
            <a:off x="7088351" y="1642505"/>
            <a:ext cx="4844398" cy="38783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291700" y="2288480"/>
            <a:ext cx="6180181"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Monthly Delay Trend</a:t>
            </a:r>
            <a:endParaRPr lang="en-US" sz="3650" dirty="0"/>
          </a:p>
        </p:txBody>
      </p:sp>
      <p:sp>
        <p:nvSpPr>
          <p:cNvPr id="4" name="Shape 1"/>
          <p:cNvSpPr/>
          <p:nvPr/>
        </p:nvSpPr>
        <p:spPr>
          <a:xfrm>
            <a:off x="5291700" y="3181350"/>
            <a:ext cx="25399" cy="1388070"/>
          </a:xfrm>
          <a:prstGeom prst="roundRect">
            <a:avLst>
              <a:gd name="adj" fmla="val 60001"/>
            </a:avLst>
          </a:prstGeom>
          <a:solidFill>
            <a:srgbClr val="2D2E34"/>
          </a:solidFill>
          <a:ln/>
        </p:spPr>
        <p:txBody>
          <a:bodyPr/>
          <a:lstStyle/>
          <a:p>
            <a:endParaRPr lang="en-LK"/>
          </a:p>
        </p:txBody>
      </p:sp>
      <p:sp>
        <p:nvSpPr>
          <p:cNvPr id="5" name="Text 2"/>
          <p:cNvSpPr/>
          <p:nvPr/>
        </p:nvSpPr>
        <p:spPr>
          <a:xfrm>
            <a:off x="5600163" y="3412728"/>
            <a:ext cx="5871718" cy="925413"/>
          </a:xfrm>
          <a:prstGeom prst="rect">
            <a:avLst/>
          </a:prstGeom>
          <a:noFill/>
          <a:ln/>
        </p:spPr>
        <p:txBody>
          <a:bodyPr wrap="square" lIns="0" tIns="0" rIns="0" bIns="0" rtlCol="0" anchor="t">
            <a:normAutofit/>
          </a:bodyPr>
          <a:lstStyle/>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"Shows how average departure delays change throughout the year — identifying seasonal or operational challenges affecting punctuality during peak travel periods."</a:t>
            </a:r>
            <a:endParaRPr lang="en-US" sz="1600" dirty="0"/>
          </a:p>
        </p:txBody>
      </p:sp>
      <p:pic>
        <p:nvPicPr>
          <p:cNvPr id="11" name="Picture 10">
            <a:extLst>
              <a:ext uri="{FF2B5EF4-FFF2-40B4-BE49-F238E27FC236}">
                <a16:creationId xmlns:a16="http://schemas.microsoft.com/office/drawing/2014/main" id="{795490B3-3E88-81E8-F1EA-A78DDF9002EB}"/>
              </a:ext>
            </a:extLst>
          </p:cNvPr>
          <p:cNvPicPr>
            <a:picLocks noChangeAspect="1"/>
          </p:cNvPicPr>
          <p:nvPr/>
        </p:nvPicPr>
        <p:blipFill>
          <a:blip r:embed="rId3"/>
          <a:srcRect l="25564" t="18090" r="11278" b="6638"/>
          <a:stretch>
            <a:fillRect/>
          </a:stretch>
        </p:blipFill>
        <p:spPr>
          <a:xfrm>
            <a:off x="147243" y="1639614"/>
            <a:ext cx="5002925" cy="38047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9814" y="643632"/>
            <a:ext cx="10752067" cy="555129"/>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Montserrat Bold" pitchFamily="34" charset="0"/>
                <a:ea typeface="Montserrat Bold" pitchFamily="34" charset="-122"/>
                <a:cs typeface="Montserrat Bold" pitchFamily="34" charset="-120"/>
              </a:rPr>
              <a:t>Distance vs Delay</a:t>
            </a:r>
            <a:endParaRPr lang="en-US" sz="3450" dirty="0"/>
          </a:p>
        </p:txBody>
      </p:sp>
      <p:sp>
        <p:nvSpPr>
          <p:cNvPr id="4" name="Shape 1"/>
          <p:cNvSpPr/>
          <p:nvPr/>
        </p:nvSpPr>
        <p:spPr>
          <a:xfrm>
            <a:off x="8024810" y="2821781"/>
            <a:ext cx="25399" cy="2047875"/>
          </a:xfrm>
          <a:prstGeom prst="roundRect">
            <a:avLst>
              <a:gd name="adj" fmla="val 60001"/>
            </a:avLst>
          </a:prstGeom>
          <a:solidFill>
            <a:srgbClr val="2D2E34"/>
          </a:solidFill>
          <a:ln/>
        </p:spPr>
        <p:txBody>
          <a:bodyPr/>
          <a:lstStyle/>
          <a:p>
            <a:endParaRPr lang="en-LK"/>
          </a:p>
        </p:txBody>
      </p:sp>
      <p:sp>
        <p:nvSpPr>
          <p:cNvPr id="5" name="Text 2"/>
          <p:cNvSpPr/>
          <p:nvPr/>
        </p:nvSpPr>
        <p:spPr>
          <a:xfrm>
            <a:off x="8317895" y="2988766"/>
            <a:ext cx="3160237" cy="1713905"/>
          </a:xfrm>
          <a:prstGeom prst="rect">
            <a:avLst/>
          </a:prstGeom>
          <a:noFill/>
          <a:ln/>
        </p:spPr>
        <p:txBody>
          <a:bodyPr wrap="square" lIns="0" tIns="0" rIns="0" bIns="0" rtlCol="0" anchor="t">
            <a:normAutofit/>
          </a:bodyPr>
          <a:lstStyle/>
          <a:p>
            <a:pPr marL="0" indent="0" algn="l">
              <a:lnSpc>
                <a:spcPct val="122000"/>
              </a:lnSpc>
              <a:buNone/>
            </a:pPr>
            <a:r>
              <a:rPr lang="en-US" sz="1500" i="1" dirty="0">
                <a:solidFill>
                  <a:srgbClr val="3D3838"/>
                </a:solidFill>
                <a:latin typeface="Source Sans 3" pitchFamily="34" charset="0"/>
                <a:ea typeface="Source Sans 3" pitchFamily="34" charset="-122"/>
                <a:cs typeface="Source Sans 3" pitchFamily="34" charset="-120"/>
              </a:rPr>
              <a:t>"Scatter plot exploring the relationship between flight distance and departure delay, one point per flight, colored by cancellation status, with a trend line testing whether longer flights see more delay."</a:t>
            </a:r>
            <a:endParaRPr lang="en-US" sz="1500" dirty="0"/>
          </a:p>
        </p:txBody>
      </p:sp>
      <p:pic>
        <p:nvPicPr>
          <p:cNvPr id="6" name="Picture 5">
            <a:extLst>
              <a:ext uri="{FF2B5EF4-FFF2-40B4-BE49-F238E27FC236}">
                <a16:creationId xmlns:a16="http://schemas.microsoft.com/office/drawing/2014/main" id="{04D3096C-836D-343D-83FB-CE894C4B036E}"/>
              </a:ext>
            </a:extLst>
          </p:cNvPr>
          <p:cNvPicPr>
            <a:picLocks noChangeAspect="1"/>
          </p:cNvPicPr>
          <p:nvPr/>
        </p:nvPicPr>
        <p:blipFill>
          <a:blip r:embed="rId3"/>
          <a:srcRect l="25819" t="17792" r="11413" b="7145"/>
          <a:stretch>
            <a:fillRect/>
          </a:stretch>
        </p:blipFill>
        <p:spPr>
          <a:xfrm>
            <a:off x="1059792" y="1602706"/>
            <a:ext cx="5929588" cy="46116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291700" y="2442666"/>
            <a:ext cx="6180181"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Cancellation Rate</a:t>
            </a:r>
            <a:endParaRPr lang="en-US" sz="3650" dirty="0"/>
          </a:p>
        </p:txBody>
      </p:sp>
      <p:sp>
        <p:nvSpPr>
          <p:cNvPr id="4" name="Shape 1"/>
          <p:cNvSpPr/>
          <p:nvPr/>
        </p:nvSpPr>
        <p:spPr>
          <a:xfrm>
            <a:off x="5291700" y="3335536"/>
            <a:ext cx="25399" cy="1079599"/>
          </a:xfrm>
          <a:prstGeom prst="roundRect">
            <a:avLst>
              <a:gd name="adj" fmla="val 60001"/>
            </a:avLst>
          </a:prstGeom>
          <a:solidFill>
            <a:srgbClr val="2D2E34"/>
          </a:solidFill>
          <a:ln/>
        </p:spPr>
        <p:txBody>
          <a:bodyPr/>
          <a:lstStyle/>
          <a:p>
            <a:endParaRPr lang="en-LK"/>
          </a:p>
        </p:txBody>
      </p:sp>
      <p:sp>
        <p:nvSpPr>
          <p:cNvPr id="5" name="Text 2"/>
          <p:cNvSpPr/>
          <p:nvPr/>
        </p:nvSpPr>
        <p:spPr>
          <a:xfrm>
            <a:off x="5600163" y="3566914"/>
            <a:ext cx="5871718" cy="616942"/>
          </a:xfrm>
          <a:prstGeom prst="rect">
            <a:avLst/>
          </a:prstGeom>
          <a:noFill/>
          <a:ln/>
        </p:spPr>
        <p:txBody>
          <a:bodyPr wrap="square" lIns="0" tIns="0" rIns="0" bIns="0" rtlCol="0" anchor="t">
            <a:normAutofit/>
          </a:bodyPr>
          <a:lstStyle/>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"Compares cancellation rate by airline to evaluate operational reliability — a key inconvenience driver for passengers."</a:t>
            </a:r>
            <a:endParaRPr lang="en-US" sz="1600" dirty="0"/>
          </a:p>
        </p:txBody>
      </p:sp>
      <p:pic>
        <p:nvPicPr>
          <p:cNvPr id="6" name="Picture 5">
            <a:extLst>
              <a:ext uri="{FF2B5EF4-FFF2-40B4-BE49-F238E27FC236}">
                <a16:creationId xmlns:a16="http://schemas.microsoft.com/office/drawing/2014/main" id="{3C6DE186-F30B-3900-0650-EED54F8A8D21}"/>
              </a:ext>
            </a:extLst>
          </p:cNvPr>
          <p:cNvPicPr>
            <a:picLocks noChangeAspect="1"/>
          </p:cNvPicPr>
          <p:nvPr/>
        </p:nvPicPr>
        <p:blipFill>
          <a:blip r:embed="rId3"/>
          <a:srcRect l="25512" t="17882" r="11473" b="7263"/>
          <a:stretch>
            <a:fillRect/>
          </a:stretch>
        </p:blipFill>
        <p:spPr>
          <a:xfrm>
            <a:off x="252347" y="1537138"/>
            <a:ext cx="4897821" cy="37837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EB6C638-DACD-79AF-10F4-B5A46F681E9E}"/>
              </a:ext>
            </a:extLst>
          </p:cNvPr>
          <p:cNvGrpSpPr/>
          <p:nvPr/>
        </p:nvGrpSpPr>
        <p:grpSpPr>
          <a:xfrm>
            <a:off x="457055" y="1775564"/>
            <a:ext cx="6180181" cy="2865338"/>
            <a:chOff x="719814" y="1996281"/>
            <a:chExt cx="6180181" cy="2865338"/>
          </a:xfrm>
        </p:grpSpPr>
        <p:sp>
          <p:nvSpPr>
            <p:cNvPr id="3" name="Text 0"/>
            <p:cNvSpPr/>
            <p:nvPr/>
          </p:nvSpPr>
          <p:spPr>
            <a:xfrm>
              <a:off x="719814" y="1996281"/>
              <a:ext cx="6180181" cy="1168797"/>
            </a:xfrm>
            <a:prstGeom prst="rect">
              <a:avLst/>
            </a:prstGeom>
            <a:noFill/>
            <a:ln/>
          </p:spPr>
          <p:txBody>
            <a:bodyPr wrap="square" lIns="0" tIns="0" rIns="0" bIns="0" rtlCol="0" anchor="t">
              <a:normAutofit/>
            </a:bodyPr>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Satisfaction by </a:t>
              </a:r>
            </a:p>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Feedback Category</a:t>
              </a:r>
              <a:endParaRPr lang="en-US" sz="3650" dirty="0"/>
            </a:p>
          </p:txBody>
        </p:sp>
        <p:sp>
          <p:nvSpPr>
            <p:cNvPr id="4" name="Shape 1"/>
            <p:cNvSpPr/>
            <p:nvPr/>
          </p:nvSpPr>
          <p:spPr>
            <a:xfrm>
              <a:off x="719814" y="3473549"/>
              <a:ext cx="25399" cy="1388070"/>
            </a:xfrm>
            <a:prstGeom prst="roundRect">
              <a:avLst>
                <a:gd name="adj" fmla="val 60001"/>
              </a:avLst>
            </a:prstGeom>
            <a:solidFill>
              <a:srgbClr val="2D2E34"/>
            </a:solidFill>
            <a:ln/>
          </p:spPr>
          <p:txBody>
            <a:bodyPr/>
            <a:lstStyle/>
            <a:p>
              <a:endParaRPr lang="en-LK"/>
            </a:p>
          </p:txBody>
        </p:sp>
        <p:sp>
          <p:nvSpPr>
            <p:cNvPr id="5" name="Text 2"/>
            <p:cNvSpPr/>
            <p:nvPr/>
          </p:nvSpPr>
          <p:spPr>
            <a:xfrm>
              <a:off x="1028277" y="3704927"/>
              <a:ext cx="5871718" cy="925413"/>
            </a:xfrm>
            <a:prstGeom prst="rect">
              <a:avLst/>
            </a:prstGeom>
            <a:noFill/>
            <a:ln/>
          </p:spPr>
          <p:txBody>
            <a:bodyPr wrap="square" lIns="0" tIns="0" rIns="0" bIns="0" rtlCol="0" anchor="t">
              <a:normAutofit/>
            </a:bodyPr>
            <a:lstStyle/>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"Examines average satisfaction across service categories </a:t>
              </a:r>
            </a:p>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and passenger classes, identifying which touchpoints need </a:t>
              </a:r>
            </a:p>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the most improvement."</a:t>
              </a:r>
              <a:endParaRPr lang="en-US" sz="1600" dirty="0"/>
            </a:p>
          </p:txBody>
        </p:sp>
      </p:grpSp>
      <p:pic>
        <p:nvPicPr>
          <p:cNvPr id="6" name="Picture 5">
            <a:extLst>
              <a:ext uri="{FF2B5EF4-FFF2-40B4-BE49-F238E27FC236}">
                <a16:creationId xmlns:a16="http://schemas.microsoft.com/office/drawing/2014/main" id="{035C30C4-1C58-A929-0436-621D769EDCD6}"/>
              </a:ext>
            </a:extLst>
          </p:cNvPr>
          <p:cNvPicPr>
            <a:picLocks noChangeAspect="1"/>
          </p:cNvPicPr>
          <p:nvPr/>
        </p:nvPicPr>
        <p:blipFill>
          <a:blip r:embed="rId3"/>
          <a:srcRect l="26323" t="16843" r="362" b="8395"/>
          <a:stretch>
            <a:fillRect/>
          </a:stretch>
        </p:blipFill>
        <p:spPr>
          <a:xfrm>
            <a:off x="6211591" y="1484289"/>
            <a:ext cx="5698385" cy="37790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25D5C63-FB41-363B-673B-E80F57AACF7C}"/>
              </a:ext>
            </a:extLst>
          </p:cNvPr>
          <p:cNvGrpSpPr/>
          <p:nvPr/>
        </p:nvGrpSpPr>
        <p:grpSpPr>
          <a:xfrm>
            <a:off x="6479369" y="2227659"/>
            <a:ext cx="6180181" cy="2402681"/>
            <a:chOff x="5291700" y="2227659"/>
            <a:chExt cx="6180181" cy="2402681"/>
          </a:xfrm>
        </p:grpSpPr>
        <p:sp>
          <p:nvSpPr>
            <p:cNvPr id="3" name="Text 0"/>
            <p:cNvSpPr/>
            <p:nvPr/>
          </p:nvSpPr>
          <p:spPr>
            <a:xfrm>
              <a:off x="5291700" y="2227659"/>
              <a:ext cx="6180181" cy="1168797"/>
            </a:xfrm>
            <a:prstGeom prst="rect">
              <a:avLst/>
            </a:prstGeom>
            <a:noFill/>
            <a:ln/>
          </p:spPr>
          <p:txBody>
            <a:bodyPr wrap="square" lIns="0" tIns="0" rIns="0" bIns="0" rtlCol="0" anchor="t">
              <a:normAutofit/>
            </a:bodyPr>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Map: Origin City Performance</a:t>
              </a:r>
              <a:endParaRPr lang="en-US" sz="3650" dirty="0"/>
            </a:p>
          </p:txBody>
        </p:sp>
        <p:sp>
          <p:nvSpPr>
            <p:cNvPr id="4" name="Text 1"/>
            <p:cNvSpPr/>
            <p:nvPr/>
          </p:nvSpPr>
          <p:spPr>
            <a:xfrm>
              <a:off x="5291700" y="3704927"/>
              <a:ext cx="6180181" cy="925413"/>
            </a:xfrm>
            <a:prstGeom prst="rect">
              <a:avLst/>
            </a:prstGeom>
            <a:noFill/>
            <a:ln/>
          </p:spPr>
          <p:txBody>
            <a:bodyPr wrap="square" lIns="0" tIns="0" rIns="0" bIns="0" rtlCol="0" anchor="t">
              <a:normAutofit/>
            </a:bodyPr>
            <a:lstStyle/>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"Circle size = flight volume, color = average delay, tooltip includes satisfaction and cancellation  giving a geographic view of where operational problems cluster."</a:t>
              </a:r>
              <a:endParaRPr lang="en-US" sz="1600" dirty="0"/>
            </a:p>
          </p:txBody>
        </p:sp>
      </p:grpSp>
      <p:pic>
        <p:nvPicPr>
          <p:cNvPr id="5" name="Picture 4">
            <a:extLst>
              <a:ext uri="{FF2B5EF4-FFF2-40B4-BE49-F238E27FC236}">
                <a16:creationId xmlns:a16="http://schemas.microsoft.com/office/drawing/2014/main" id="{DCDA11E6-6609-B423-AE89-1734C7C53229}"/>
              </a:ext>
            </a:extLst>
          </p:cNvPr>
          <p:cNvPicPr>
            <a:picLocks noChangeAspect="1"/>
          </p:cNvPicPr>
          <p:nvPr/>
        </p:nvPicPr>
        <p:blipFill>
          <a:blip r:embed="rId3"/>
          <a:srcRect l="25782" t="18298" b="6847"/>
          <a:stretch>
            <a:fillRect/>
          </a:stretch>
        </p:blipFill>
        <p:spPr>
          <a:xfrm>
            <a:off x="241736" y="1739492"/>
            <a:ext cx="5768491" cy="3783724"/>
          </a:xfrm>
          <a:prstGeom prst="rect">
            <a:avLst/>
          </a:prstGeom>
        </p:spPr>
      </p:pic>
    </p:spTree>
    <p:extLst>
      <p:ext uri="{BB962C8B-B14F-4D97-AF65-F5344CB8AC3E}">
        <p14:creationId xmlns:p14="http://schemas.microsoft.com/office/powerpoint/2010/main" val="2285703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721108" y="1544486"/>
            <a:ext cx="6180181" cy="1168797"/>
          </a:xfrm>
          <a:prstGeom prst="rect">
            <a:avLst/>
          </a:prstGeom>
          <a:noFill/>
          <a:ln/>
        </p:spPr>
        <p:txBody>
          <a:bodyPr wrap="square" lIns="0" tIns="0" rIns="0" bIns="0" rtlCol="0" anchor="t">
            <a:normAutofit/>
          </a:bodyPr>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Combined Dashboard </a:t>
            </a:r>
          </a:p>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&amp; Interactivity</a:t>
            </a:r>
            <a:endParaRPr lang="en-US" sz="3650" dirty="0"/>
          </a:p>
        </p:txBody>
      </p:sp>
      <p:sp>
        <p:nvSpPr>
          <p:cNvPr id="4" name="Text 1"/>
          <p:cNvSpPr/>
          <p:nvPr/>
        </p:nvSpPr>
        <p:spPr>
          <a:xfrm>
            <a:off x="6794680" y="2966292"/>
            <a:ext cx="6180181" cy="925413"/>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clicking any chart filters all the others (6 cross-filter actions), </a:t>
            </a:r>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letting a viewer drill from "high-delay airline" straight into </a:t>
            </a:r>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that airline's satisfaction and route data.</a:t>
            </a:r>
            <a:endParaRPr lang="en-US" sz="1600" dirty="0"/>
          </a:p>
        </p:txBody>
      </p:sp>
      <p:pic>
        <p:nvPicPr>
          <p:cNvPr id="5" name="Picture 4">
            <a:extLst>
              <a:ext uri="{FF2B5EF4-FFF2-40B4-BE49-F238E27FC236}">
                <a16:creationId xmlns:a16="http://schemas.microsoft.com/office/drawing/2014/main" id="{A39D1921-2660-E350-E6B3-B1E40F68A5A5}"/>
              </a:ext>
            </a:extLst>
          </p:cNvPr>
          <p:cNvPicPr>
            <a:picLocks noChangeAspect="1"/>
          </p:cNvPicPr>
          <p:nvPr/>
        </p:nvPicPr>
        <p:blipFill>
          <a:blip r:embed="rId3"/>
          <a:srcRect l="14829" t="11228" b="6014"/>
          <a:stretch>
            <a:fillRect/>
          </a:stretch>
        </p:blipFill>
        <p:spPr>
          <a:xfrm>
            <a:off x="399391" y="1379480"/>
            <a:ext cx="6180182" cy="3905301"/>
          </a:xfrm>
          <a:prstGeom prst="rect">
            <a:avLst/>
          </a:prstGeom>
        </p:spPr>
      </p:pic>
    </p:spTree>
    <p:extLst>
      <p:ext uri="{BB962C8B-B14F-4D97-AF65-F5344CB8AC3E}">
        <p14:creationId xmlns:p14="http://schemas.microsoft.com/office/powerpoint/2010/main" val="1686586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9814" y="2236986"/>
            <a:ext cx="10752067" cy="584398"/>
          </a:xfrm>
          <a:prstGeom prst="rect">
            <a:avLst/>
          </a:prstGeom>
          <a:noFill/>
          <a:ln/>
        </p:spPr>
        <p:txBody>
          <a:bodyPr wrap="none" lIns="0" tIns="0" rIns="0" bIns="0" rtlCol="0" anchor="t"/>
          <a:lstStyle/>
          <a:p>
            <a:pPr marL="0" indent="0" algn="l">
              <a:lnSpc>
                <a:spcPct val="104000"/>
              </a:lnSpc>
              <a:buNone/>
            </a:pPr>
            <a:r>
              <a:rPr lang="en-US" sz="3650" b="1" dirty="0">
                <a:solidFill>
                  <a:srgbClr val="000000"/>
                </a:solidFill>
                <a:latin typeface="Montserrat Bold" pitchFamily="34" charset="0"/>
                <a:ea typeface="Montserrat Bold" pitchFamily="34" charset="-122"/>
                <a:cs typeface="Montserrat Bold" pitchFamily="34" charset="-120"/>
              </a:rPr>
              <a:t>Conclusion</a:t>
            </a:r>
            <a:endParaRPr lang="en-US" sz="3650" dirty="0"/>
          </a:p>
        </p:txBody>
      </p:sp>
      <p:sp>
        <p:nvSpPr>
          <p:cNvPr id="3" name="Shape 1"/>
          <p:cNvSpPr/>
          <p:nvPr/>
        </p:nvSpPr>
        <p:spPr>
          <a:xfrm>
            <a:off x="719814" y="3232745"/>
            <a:ext cx="25399" cy="1388070"/>
          </a:xfrm>
          <a:prstGeom prst="roundRect">
            <a:avLst>
              <a:gd name="adj" fmla="val 60001"/>
            </a:avLst>
          </a:prstGeom>
          <a:solidFill>
            <a:srgbClr val="2D2E34"/>
          </a:solidFill>
          <a:ln/>
        </p:spPr>
        <p:txBody>
          <a:bodyPr/>
          <a:lstStyle/>
          <a:p>
            <a:endParaRPr lang="en-LK"/>
          </a:p>
        </p:txBody>
      </p:sp>
      <p:sp>
        <p:nvSpPr>
          <p:cNvPr id="4" name="Text 2"/>
          <p:cNvSpPr/>
          <p:nvPr/>
        </p:nvSpPr>
        <p:spPr>
          <a:xfrm>
            <a:off x="1028277" y="3464123"/>
            <a:ext cx="10443604" cy="925413"/>
          </a:xfrm>
          <a:prstGeom prst="rect">
            <a:avLst/>
          </a:prstGeom>
          <a:noFill/>
          <a:ln/>
        </p:spPr>
        <p:txBody>
          <a:bodyPr wrap="square" lIns="0" tIns="0" rIns="0" bIns="0" rtlCol="0" anchor="t">
            <a:normAutofit/>
          </a:bodyPr>
          <a:lstStyle/>
          <a:p>
            <a:pPr marL="0" indent="0" algn="l">
              <a:lnSpc>
                <a:spcPct val="125000"/>
              </a:lnSpc>
              <a:buNone/>
            </a:pPr>
            <a:r>
              <a:rPr lang="en-US" sz="1600" i="1" dirty="0">
                <a:solidFill>
                  <a:srgbClr val="3D3838"/>
                </a:solidFill>
                <a:latin typeface="Source Sans 3" pitchFamily="34" charset="0"/>
                <a:ea typeface="Source Sans 3" pitchFamily="34" charset="-122"/>
                <a:cs typeface="Source Sans 3" pitchFamily="34" charset="-120"/>
              </a:rPr>
              <a:t>"Operational performance has a direct influence on passenger experience. Airlines with higher delays and cancellation rates see lower satisfaction. Reducing delays and improving reliability, especially in the lowest-rated service categories, is the clearest lever for improving customer loyalty."</a:t>
            </a:r>
            <a:endParaRPr lang="en-US" sz="1600" dirty="0"/>
          </a:p>
        </p:txBody>
      </p:sp>
    </p:spTree>
    <p:extLst>
      <p:ext uri="{BB962C8B-B14F-4D97-AF65-F5344CB8AC3E}">
        <p14:creationId xmlns:p14="http://schemas.microsoft.com/office/powerpoint/2010/main" val="2962396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19814" y="3025775"/>
            <a:ext cx="6180181" cy="806351"/>
          </a:xfrm>
          <a:prstGeom prst="rect">
            <a:avLst/>
          </a:prstGeom>
          <a:noFill/>
          <a:ln/>
        </p:spPr>
        <p:txBody>
          <a:bodyPr wrap="none" lIns="0" tIns="0" rIns="0" bIns="0" rtlCol="0" anchor="t"/>
          <a:lstStyle/>
          <a:p>
            <a:pPr marL="0" indent="0" algn="l">
              <a:lnSpc>
                <a:spcPct val="104000"/>
              </a:lnSpc>
              <a:buNone/>
            </a:pPr>
            <a:r>
              <a:rPr lang="en-US" sz="5050" b="1" dirty="0">
                <a:solidFill>
                  <a:srgbClr val="000000"/>
                </a:solidFill>
                <a:latin typeface="Montserrat Bold" pitchFamily="34" charset="0"/>
                <a:ea typeface="Montserrat Bold" pitchFamily="34" charset="-122"/>
                <a:cs typeface="Montserrat Bold" pitchFamily="34" charset="-120"/>
              </a:rPr>
              <a:t>Thank You</a:t>
            </a:r>
            <a:endParaRPr lang="en-US" sz="5050" dirty="0"/>
          </a:p>
        </p:txBody>
      </p:sp>
      <p:pic>
        <p:nvPicPr>
          <p:cNvPr id="7" name="Picture 6">
            <a:extLst>
              <a:ext uri="{FF2B5EF4-FFF2-40B4-BE49-F238E27FC236}">
                <a16:creationId xmlns:a16="http://schemas.microsoft.com/office/drawing/2014/main" id="{1F876576-82F4-B4D4-29AD-2E7FDB48F622}"/>
              </a:ext>
            </a:extLst>
          </p:cNvPr>
          <p:cNvPicPr>
            <a:picLocks noChangeAspect="1"/>
          </p:cNvPicPr>
          <p:nvPr/>
        </p:nvPicPr>
        <p:blipFill>
          <a:blip r:embed="rId3"/>
          <a:stretch>
            <a:fillRect/>
          </a:stretch>
        </p:blipFill>
        <p:spPr>
          <a:xfrm>
            <a:off x="7224000" y="-50"/>
            <a:ext cx="4968000" cy="6858000"/>
          </a:xfrm>
          <a:prstGeom prst="rect">
            <a:avLst/>
          </a:prstGeom>
        </p:spPr>
      </p:pic>
    </p:spTree>
    <p:extLst>
      <p:ext uri="{BB962C8B-B14F-4D97-AF65-F5344CB8AC3E}">
        <p14:creationId xmlns:p14="http://schemas.microsoft.com/office/powerpoint/2010/main" val="3768269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94</TotalTime>
  <Words>420</Words>
  <Application>Microsoft Macintosh PowerPoint</Application>
  <PresentationFormat>Widescreen</PresentationFormat>
  <Paragraphs>62</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Times New Roman</vt:lpstr>
      <vt:lpstr>-webkit-standard</vt:lpstr>
      <vt:lpstr>Montserrat Bold</vt:lpstr>
      <vt:lpstr>Source Sans 3</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Sanka Prabashana</cp:lastModifiedBy>
  <cp:revision>4</cp:revision>
  <dcterms:created xsi:type="dcterms:W3CDTF">2026-07-08T04:34:56Z</dcterms:created>
  <dcterms:modified xsi:type="dcterms:W3CDTF">2026-07-08T15:21:57Z</dcterms:modified>
</cp:coreProperties>
</file>